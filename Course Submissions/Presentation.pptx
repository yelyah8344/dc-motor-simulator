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3" r:id="rId21"/>
    <p:sldId id="274" r:id="rId22"/>
    <p:sldId id="275" r:id="rId23"/>
    <p:sldId id="276" r:id="rId24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61D047-AC3B-21E0-16B9-DBD0D998F21A}" v="1" dt="2026-09-27T07:15:10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13" autoAdjust="0"/>
    <p:restoredTop sz="95153"/>
  </p:normalViewPr>
  <p:slideViewPr>
    <p:cSldViewPr snapToGrid="0" snapToObjects="1">
      <p:cViewPr>
        <p:scale>
          <a:sx n="100" d="100"/>
          <a:sy n="100" d="100"/>
        </p:scale>
        <p:origin x="43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0F265C-9DF2-E8FB-C281-49A95720C6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88A12-072E-E9DD-75D8-792036B5C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F0298-9D9B-42EE-9FBC-5BF5BA8C94E8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86D79-EFC6-014D-40F3-68F8FB024E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A9D36-8240-DBBB-128E-9E573BE9A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436C1-A97E-48B9-A38A-E4B8449736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307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F15EC-E103-EA4C-8F3D-F70BFBFE368F}" type="datetimeFigureOut">
              <a:rPr lang="en-BD" smtClean="0"/>
              <a:t>09/27/2026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5D39E-BF79-5044-9B9C-292D64001D9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0034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Title of the Project</a:t>
            </a:r>
            <a:endParaRPr lang="en-BD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C9C879-EF2D-BA4E-B6A9-D4377737278E}"/>
              </a:ext>
            </a:extLst>
          </p:cNvPr>
          <p:cNvSpPr/>
          <p:nvPr userDrawn="1"/>
        </p:nvSpPr>
        <p:spPr>
          <a:xfrm>
            <a:off x="0" y="0"/>
            <a:ext cx="12192000" cy="15622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EEE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212</a:t>
            </a:r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Numerical Techniques</a:t>
            </a:r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 Laboratory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Level-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 Term-I Section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C2</a:t>
            </a:r>
            <a:endParaRPr lang="en-BD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BD" sz="3600" dirty="0">
                <a:latin typeface="Arial" panose="020B0604020202020204" pitchFamily="34" charset="0"/>
                <a:cs typeface="Arial" panose="020B0604020202020204" pitchFamily="34" charset="0"/>
              </a:rPr>
              <a:t>Final Project Demonstration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99C6A4-662A-4C47-AB70-4A7A449F40AE}"/>
              </a:ext>
            </a:extLst>
          </p:cNvPr>
          <p:cNvSpPr/>
          <p:nvPr userDrawn="1"/>
        </p:nvSpPr>
        <p:spPr>
          <a:xfrm>
            <a:off x="0" y="5968657"/>
            <a:ext cx="12192000" cy="8893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865755" algn="ctr"/>
                <a:tab pos="5731510" algn="r"/>
              </a:tabLst>
            </a:pPr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Bangladesh University of Engineering and Technology</a:t>
            </a: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Department of Electrical and Electronic Engineering</a:t>
            </a:r>
            <a:endParaRPr lang="en-BD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9B5FDC4-269D-0A46-8DED-E482158D83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048"/>
          <a:stretch/>
        </p:blipFill>
        <p:spPr>
          <a:xfrm>
            <a:off x="1682496" y="6046044"/>
            <a:ext cx="793630" cy="73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2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BD"/>
              <a:t>Title of the Project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21943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7A532869-E847-B04C-9454-B1BBC68D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9C3B094-71D1-654C-855E-07B8BFC1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23745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3AA596F9-6385-224E-8B6A-50967833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1CB05F73-B36B-5A48-81EA-E76B1357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18402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A8BE3A-860F-304A-9628-0D1C6721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F763A-9E9F-6745-958E-87128C40B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44822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7E522AF0-01E9-C04B-A4BD-1E790BA6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6FE88DDB-FE65-5846-A692-EED395E9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97047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52ED7D-C8C9-FC45-9D41-2B197068D5F8}"/>
              </a:ext>
            </a:extLst>
          </p:cNvPr>
          <p:cNvSpPr/>
          <p:nvPr userDrawn="1"/>
        </p:nvSpPr>
        <p:spPr>
          <a:xfrm>
            <a:off x="1" y="6457189"/>
            <a:ext cx="12192000" cy="413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93520"/>
            <a:ext cx="10058400" cy="454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0950" y="6501638"/>
            <a:ext cx="521970" cy="3085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D083A58-BF4A-C247-A39E-31621332A2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84048"/>
          <a:stretch/>
        </p:blipFill>
        <p:spPr>
          <a:xfrm>
            <a:off x="51125" y="6457189"/>
            <a:ext cx="381361" cy="352979"/>
          </a:xfrm>
          <a:prstGeom prst="rect">
            <a:avLst/>
          </a:prstGeom>
        </p:spPr>
      </p:pic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576C60AE-BF9F-E948-A464-57EC6013B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486" y="6501637"/>
            <a:ext cx="3968064" cy="3941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EEE </a:t>
            </a:r>
            <a:r>
              <a:rPr lang="en-US" dirty="0" err="1"/>
              <a:t>xyz</a:t>
            </a:r>
            <a:r>
              <a:rPr lang="en-US" dirty="0"/>
              <a:t> (202z) – Final Project Group A.XY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DCD1120D-AD02-624F-AC7B-A52A109EC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00550" y="6507645"/>
            <a:ext cx="5000625" cy="375412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15582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3" r:id="rId3"/>
    <p:sldLayoutId id="2147483714" r:id="rId4"/>
    <p:sldLayoutId id="2147483715" r:id="rId5"/>
    <p:sldLayoutId id="2147483716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UILD &amp; CODE: Elegoo Arduino starter kit servo, LED, and ...">
            <a:extLst>
              <a:ext uri="{FF2B5EF4-FFF2-40B4-BE49-F238E27FC236}">
                <a16:creationId xmlns:a16="http://schemas.microsoft.com/office/drawing/2014/main" id="{AEDB557B-883F-B642-8577-6498598B70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3357" y="1531835"/>
            <a:ext cx="12188825" cy="446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46C925-AD3C-084C-A393-173805EA7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940" y="1775977"/>
            <a:ext cx="9068586" cy="1580405"/>
          </a:xfrm>
        </p:spPr>
        <p:txBody>
          <a:bodyPr/>
          <a:lstStyle/>
          <a:p>
            <a:r>
              <a:rPr lang="en-BD" sz="5400" cap="none" dirty="0">
                <a:latin typeface="Arial Black" panose="020B0A04020102020204" pitchFamily="34" charset="0"/>
              </a:rPr>
              <a:t>DC Motor Dynamic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0DBAF-7D79-1641-9F57-35E40E2F3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1175" y="5102352"/>
            <a:ext cx="2350475" cy="885432"/>
          </a:xfrm>
        </p:spPr>
        <p:txBody>
          <a:bodyPr wrap="square"/>
          <a:lstStyle/>
          <a:p>
            <a:r>
              <a:rPr sz="1100" b="1"/>
              <a:t>Shuvro Pain</a:t>
            </a:r>
          </a:p>
          <a:p>
            <a:r>
              <a:rPr sz="1100"/>
              <a:t>2406177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D65FC9-0D80-444D-8239-028EF0E63ED0}"/>
              </a:ext>
            </a:extLst>
          </p:cNvPr>
          <p:cNvSpPr txBox="1">
            <a:spLocks/>
          </p:cNvSpPr>
          <p:nvPr/>
        </p:nvSpPr>
        <p:spPr>
          <a:xfrm>
            <a:off x="3863924" y="5102352"/>
            <a:ext cx="2350475" cy="88543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 b="1"/>
              <a:t>Taseen Intisar</a:t>
            </a:r>
          </a:p>
          <a:p>
            <a:r>
              <a:rPr sz="1100"/>
              <a:t>2406188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185C57D-A765-0B46-AE76-AD4244F426AB}"/>
              </a:ext>
            </a:extLst>
          </p:cNvPr>
          <p:cNvSpPr txBox="1">
            <a:spLocks/>
          </p:cNvSpPr>
          <p:nvPr/>
        </p:nvSpPr>
        <p:spPr>
          <a:xfrm>
            <a:off x="6117109" y="5102352"/>
            <a:ext cx="2350475" cy="88543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 b="1"/>
              <a:t>Abdus Samiul Hasan Sun</a:t>
            </a:r>
          </a:p>
          <a:p>
            <a:r>
              <a:rPr sz="1100"/>
              <a:t>2406193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7A885CF-D2B7-2D4F-9C5B-F2B757DB520C}"/>
              </a:ext>
            </a:extLst>
          </p:cNvPr>
          <p:cNvSpPr txBox="1">
            <a:spLocks/>
          </p:cNvSpPr>
          <p:nvPr/>
        </p:nvSpPr>
        <p:spPr>
          <a:xfrm>
            <a:off x="8490051" y="5102352"/>
            <a:ext cx="2350475" cy="88543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 b="1"/>
              <a:t>Nadman Wasit</a:t>
            </a:r>
          </a:p>
          <a:p>
            <a:r>
              <a:rPr sz="1100"/>
              <a:t>2406195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D4ABD83-8F2E-FD4E-B18C-2299D6E2E152}"/>
              </a:ext>
            </a:extLst>
          </p:cNvPr>
          <p:cNvSpPr txBox="1">
            <a:spLocks/>
          </p:cNvSpPr>
          <p:nvPr/>
        </p:nvSpPr>
        <p:spPr>
          <a:xfrm>
            <a:off x="4884528" y="3554820"/>
            <a:ext cx="3033537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D" cap="small" dirty="0"/>
              <a:t>Submitted by - Group </a:t>
            </a:r>
            <a:r>
              <a:rPr lang="en-US" cap="small" dirty="0"/>
              <a:t>04</a:t>
            </a:r>
            <a:endParaRPr lang="en-BD" sz="2800" cap="small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B74ABDA-11C0-7C43-8041-3445AA68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6919" y="5631180"/>
            <a:ext cx="2111881" cy="228600"/>
          </a:xfrm>
        </p:spPr>
        <p:txBody>
          <a:bodyPr/>
          <a:lstStyle/>
          <a:p>
            <a:fld id="{E9C29D53-9981-884B-B5B6-B5743DF81FD1}" type="slidenum">
              <a:rPr lang="en-BD" smtClean="0"/>
              <a:t>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778246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012B-84B9-7349-A96C-D843A369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899E-188D-E346-BD75-A52C25C2C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457200" indent="-457200">
              <a:buFont typeface="+mj-lt"/>
              <a:buAutoNum type="arabicPeriod"/>
            </a:pPr>
            <a:r>
              <a:rPr b="0" dirty="0"/>
              <a:t>Summary</a:t>
            </a:r>
          </a:p>
          <a:p>
            <a:pPr marL="457200" indent="-457200">
              <a:buFont typeface="+mj-lt"/>
              <a:buAutoNum type="arabicPeriod"/>
            </a:pPr>
            <a:r>
              <a:rPr b="0" dirty="0"/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b="0" dirty="0"/>
              <a:t>Design</a:t>
            </a:r>
          </a:p>
          <a:p>
            <a:pPr marL="457200" indent="-457200">
              <a:buFont typeface="+mj-lt"/>
              <a:buAutoNum type="arabicPeriod"/>
            </a:pPr>
            <a:r>
              <a:rPr b="0" dirty="0"/>
              <a:t>Implementation</a:t>
            </a:r>
          </a:p>
          <a:p>
            <a:pPr marL="457200" indent="-457200">
              <a:buFont typeface="+mj-lt"/>
              <a:buAutoNum type="arabicPeriod"/>
            </a:pPr>
            <a:r>
              <a:rPr b="0" dirty="0"/>
              <a:t>Analysis and Evaluation</a:t>
            </a:r>
          </a:p>
          <a:p>
            <a:pPr marL="457200" indent="-457200">
              <a:buFont typeface="+mj-lt"/>
              <a:buAutoNum type="arabicPeriod"/>
            </a:pPr>
            <a:r>
              <a:rPr b="0" dirty="0"/>
              <a:t>Future Work</a:t>
            </a:r>
          </a:p>
          <a:p>
            <a:pPr marL="457200" indent="-457200">
              <a:buFont typeface="+mj-lt"/>
              <a:buAutoNum type="arabicPeriod"/>
            </a:pPr>
            <a:r>
              <a:rPr b="0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16421-CA9E-E344-9555-2F9A2A51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EB6EC-D213-9F48-8356-86C62AC1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</a:p>
          <a:p>
            <a:r>
              <a:rPr lang="en-US" dirty="0"/>
              <a:t>\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B0E6E-7910-2644-9BBD-C431B66B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/>
              <a:t>DC Motor Dynamic Simulator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09732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Summary / Abstract</a:t>
            </a:r>
            <a:endParaRPr lang="en-B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B2C38B-4AC5-9248-B4C6-67239E72D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90472"/>
            <a:ext cx="6583680" cy="4544568"/>
          </a:xfrm>
        </p:spPr>
        <p:txBody>
          <a:bodyPr wrap="square"/>
          <a:lstStyle/>
          <a:p>
            <a:r>
              <a:rPr sz="1700" b="0"/>
              <a:t>MATLAB App Designer application that simulates an armature-controlled DC motor</a:t>
            </a:r>
          </a:p>
          <a:p>
            <a:pPr lvl="1"/>
            <a:r>
              <a:rPr sz="1700" b="0"/>
              <a:t>Models the coupled electrical and mechanical dynamics of the machine</a:t>
            </a:r>
          </a:p>
          <a:p>
            <a:r>
              <a:rPr sz="1700" b="0"/>
              <a:t>Three core states solved numerically: armature current, speed, shaft position</a:t>
            </a:r>
          </a:p>
          <a:p>
            <a:r>
              <a:rPr sz="1700" b="0"/>
              <a:t>Forward Euler and RK4 implemented from first principles</a:t>
            </a:r>
          </a:p>
          <a:p>
            <a:pPr lvl="1"/>
            <a:r>
              <a:rPr sz="1700" b="0"/>
              <a:t>ode45 used only as a validation reference, never as the solver</a:t>
            </a:r>
          </a:p>
          <a:p>
            <a:r>
              <a:rPr sz="1700" b="0"/>
              <a:t>Interactive GUI with animation, plot views and a numerical results table</a:t>
            </a:r>
          </a:p>
          <a:p>
            <a:r>
              <a:rPr sz="1700" b="0"/>
              <a:t>Optional extensions: thermal model, current limiting, Coulomb friction, speed-dependent loads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</a:t>
            </a:fld>
            <a:endParaRPr lang="en-BD"/>
          </a:p>
        </p:txBody>
      </p:sp>
      <p:pic>
        <p:nvPicPr>
          <p:cNvPr id="11" name="Picture 10" descr="1790325964892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214" y="1491343"/>
            <a:ext cx="4071486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5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Introduction</a:t>
            </a:r>
            <a:endParaRPr lang="en-B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B2C38B-4AC5-9248-B4C6-67239E72D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90472"/>
            <a:ext cx="10058400" cy="2286000"/>
          </a:xfrm>
        </p:spPr>
        <p:txBody>
          <a:bodyPr wrap="square"/>
          <a:lstStyle/>
          <a:p>
            <a:r>
              <a:rPr sz="1700" b="0"/>
              <a:t>A DC motor converts electrical energy into mechanical energy</a:t>
            </a:r>
          </a:p>
          <a:p>
            <a:r>
              <a:rPr sz="1700" b="0"/>
              <a:t>Current, speed and position all vary with time - it is a dynamic system</a:t>
            </a:r>
          </a:p>
          <a:p>
            <a:r>
              <a:rPr sz="1700" b="0"/>
              <a:t>Electrical and mechanical subsystems are coupled through back-EMF and torque</a:t>
            </a:r>
          </a:p>
          <a:p>
            <a:pPr lvl="1"/>
            <a:r>
              <a:rPr sz="1700" b="0"/>
              <a:t>No closed-form solution once current limiting or a speed-dependent load is added</a:t>
            </a:r>
          </a:p>
          <a:p>
            <a:r>
              <a:rPr sz="1700" b="0"/>
              <a:t>Numerical integration is required to predict the transient response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</a:t>
            </a:fld>
            <a:endParaRPr lang="en-BD"/>
          </a:p>
        </p:txBody>
      </p:sp>
      <p:pic>
        <p:nvPicPr>
          <p:cNvPr id="11" name="Picture 10" descr="M1_mecha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611880"/>
            <a:ext cx="3268101" cy="2697480"/>
          </a:xfrm>
          <a:prstGeom prst="rect">
            <a:avLst/>
          </a:prstGeom>
        </p:spPr>
      </p:pic>
      <p:pic>
        <p:nvPicPr>
          <p:cNvPr id="12" name="Picture 11" descr="M1_torque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611880"/>
            <a:ext cx="3532414" cy="269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9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3.1 Design: </a:t>
            </a:r>
            <a:r>
              <a:rPr lang="en-GB" dirty="0"/>
              <a:t>Problem Formulation (PO(b))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BFA2-EE69-374B-B248-C5EB3C1C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02972"/>
            <a:ext cx="10058400" cy="4032068"/>
          </a:xfrm>
        </p:spPr>
        <p:txBody>
          <a:bodyPr wrap="square"/>
          <a:lstStyle/>
          <a:p>
            <a:r>
              <a:rPr sz="1700" b="1"/>
              <a:t>Problem</a:t>
            </a:r>
            <a:endParaRPr lang="en-BD" dirty="0"/>
          </a:p>
          <a:p>
            <a:pPr lvl="1"/>
            <a:r>
              <a:rPr sz="1700" b="0"/>
              <a:t>Formulate the coupled differential equations of an armature-controlled DC motor</a:t>
            </a:r>
            <a:endParaRPr lang="en-BD" dirty="0"/>
          </a:p>
          <a:p>
            <a:pPr lvl="1"/>
            <a:r>
              <a:rPr sz="1700" b="0"/>
              <a:t>Solve them numerically and analyse the dynamic response</a:t>
            </a:r>
            <a:endParaRPr lang="en-BD" dirty="0"/>
          </a:p>
          <a:p>
            <a:pPr lvl="1"/>
            <a:r>
              <a:rPr sz="1700" b="0"/>
              <a:t>Compare at least two numerical integration methods</a:t>
            </a:r>
            <a:endParaRPr lang="en-BD" dirty="0"/>
          </a:p>
          <a:p>
            <a:r>
              <a:rPr sz="1700" b="1"/>
              <a:t>Scope</a:t>
            </a:r>
            <a:endParaRPr lang="en-BD" dirty="0"/>
          </a:p>
          <a:p>
            <a:pPr lvl="1"/>
            <a:r>
              <a:rPr sz="1700" b="0"/>
              <a:t>States: armature current, angular speed, shaft position</a:t>
            </a:r>
            <a:endParaRPr lang="en-BD" dirty="0"/>
          </a:p>
          <a:p>
            <a:pPr lvl="1"/>
            <a:r>
              <a:rPr sz="1700" b="0"/>
              <a:t>Variable applied-voltage waveforms and load-torque characteristics</a:t>
            </a:r>
            <a:endParaRPr lang="en-BD" dirty="0"/>
          </a:p>
          <a:p>
            <a:pPr lvl="1"/>
            <a:r>
              <a:rPr sz="1700" b="0"/>
              <a:t>Forward Euler and RK4 implemented; ode45 for validation only</a:t>
            </a:r>
            <a:endParaRPr lang="en-BD" dirty="0"/>
          </a:p>
          <a:p>
            <a:pPr lvl="1"/>
            <a:r>
              <a:rPr sz="1700" b="0"/>
              <a:t>Optional: thermal model, current limit, Coulomb friction, adaptive RK45, animation</a:t>
            </a:r>
            <a:endParaRPr lang="en-BD" dirty="0"/>
          </a:p>
          <a:p>
            <a:pPr lvl="1"/>
            <a:r>
              <a:rPr sz="1700" b="0"/>
              <a:t>Out of scope: magnetic saturation, regenerative braking into the supply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5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8F085C8-BD3D-5640-EC75-0BCC5129C060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3.1.1 Identification of Scope</a:t>
            </a:r>
          </a:p>
        </p:txBody>
      </p:sp>
    </p:spTree>
    <p:extLst>
      <p:ext uri="{BB962C8B-B14F-4D97-AF65-F5344CB8AC3E}">
        <p14:creationId xmlns:p14="http://schemas.microsoft.com/office/powerpoint/2010/main" val="317586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3.1 Design: </a:t>
            </a:r>
            <a:r>
              <a:rPr lang="en-GB" dirty="0"/>
              <a:t>Problem Formulation (PO(b))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BFA2-EE69-374B-B248-C5EB3C1C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02972"/>
            <a:ext cx="10058400" cy="4032068"/>
          </a:xfrm>
        </p:spPr>
        <p:txBody>
          <a:bodyPr wrap="square"/>
          <a:lstStyle/>
          <a:p>
            <a:r>
              <a:rPr sz="1700" b="0" dirty="0"/>
              <a:t>Chapman, Electric Machinery Fundamentals</a:t>
            </a:r>
            <a:r>
              <a:rPr lang="en-US" sz="1700" b="0" dirty="0"/>
              <a:t> - DC motor operating principles</a:t>
            </a:r>
            <a:endParaRPr lang="en-BD" dirty="0"/>
          </a:p>
          <a:p>
            <a:r>
              <a:rPr sz="1700" b="0" dirty="0" err="1"/>
              <a:t>Chapra</a:t>
            </a:r>
            <a:r>
              <a:rPr sz="1700" b="0" dirty="0"/>
              <a:t> &amp; Canale, Numerical Methods for Engineers - Euler and Runge-</a:t>
            </a:r>
            <a:r>
              <a:rPr sz="1700" b="0" dirty="0" err="1"/>
              <a:t>Kutta</a:t>
            </a:r>
            <a:r>
              <a:rPr sz="1700" b="0" dirty="0"/>
              <a:t> </a:t>
            </a:r>
            <a:r>
              <a:rPr lang="en-US" sz="1700" b="0" dirty="0"/>
              <a:t>methods</a:t>
            </a:r>
            <a:endParaRPr lang="en-BD" dirty="0"/>
          </a:p>
          <a:p>
            <a:r>
              <a:rPr sz="1700" b="0" dirty="0"/>
              <a:t>MathWorks ODE documentation</a:t>
            </a:r>
            <a:r>
              <a:rPr lang="en-US" sz="1700" b="0" dirty="0"/>
              <a:t> – ode45 for adaptive time-step integration</a:t>
            </a:r>
            <a:endParaRPr lang="en-BD" dirty="0"/>
          </a:p>
          <a:p>
            <a:r>
              <a:rPr sz="1700" b="0" dirty="0"/>
              <a:t>MathWorks App Designer documentation - GUI components, callbacks, axes and tables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6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8F085C8-BD3D-5640-EC75-0BCC5129C060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3.1.2 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505768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3.1 Design: </a:t>
            </a:r>
            <a:r>
              <a:rPr lang="en-GB" dirty="0"/>
              <a:t>Problem Formulation (PO(b))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BFA2-EE69-374B-B248-C5EB3C1C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948" y="1820391"/>
            <a:ext cx="10058400" cy="1234440"/>
          </a:xfrm>
        </p:spPr>
        <p:txBody>
          <a:bodyPr wrap="square"/>
          <a:lstStyle/>
          <a:p>
            <a:r>
              <a:rPr sz="1700" b="0" dirty="0"/>
              <a:t>Kirchhoff voltage law on the armature circuit, Newton second law on the rotor</a:t>
            </a:r>
            <a:endParaRPr lang="en-BD" dirty="0"/>
          </a:p>
          <a:p>
            <a:r>
              <a:rPr sz="1700" b="0" dirty="0"/>
              <a:t>Coupled through the back-EMF constant Ke and the torque constant Kt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7</a:t>
            </a:fld>
            <a:endParaRPr lang="en-B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8F085C8-BD3D-5640-EC75-0BCC5129C060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3.1.3 Formulation of Problem</a:t>
            </a:r>
          </a:p>
        </p:txBody>
      </p:sp>
      <p:pic>
        <p:nvPicPr>
          <p:cNvPr id="13" name="Picture 12" descr="eq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788920"/>
            <a:ext cx="5490883" cy="3291840"/>
          </a:xfrm>
          <a:prstGeom prst="rect">
            <a:avLst/>
          </a:prstGeom>
        </p:spPr>
      </p:pic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5DA3DE9C-C119-4F7A-B6F0-3FDD83A018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8C1688F5-D1C8-4725-9FFA-B88C1537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100168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3.1 Design: </a:t>
            </a:r>
            <a:r>
              <a:rPr lang="en-GB" dirty="0"/>
              <a:t>Problem Formulation (PO(b))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BFA2-EE69-374B-B248-C5EB3C1C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74519"/>
            <a:ext cx="10058400" cy="731520"/>
          </a:xfrm>
        </p:spPr>
        <p:txBody>
          <a:bodyPr wrap="square"/>
          <a:lstStyle/>
          <a:p>
            <a:r>
              <a:rPr sz="1700" b="0"/>
              <a:t>Rearranged into explicit state-derivative form for the numerical solvers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8</a:t>
            </a:fld>
            <a:endParaRPr lang="en-B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8F085C8-BD3D-5640-EC75-0BCC5129C060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3.1.4 Analysis</a:t>
            </a:r>
          </a:p>
        </p:txBody>
      </p:sp>
      <p:pic>
        <p:nvPicPr>
          <p:cNvPr id="13" name="Picture 12" descr="eq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78018"/>
            <a:ext cx="2612390" cy="2011680"/>
          </a:xfrm>
          <a:prstGeom prst="rect">
            <a:avLst/>
          </a:prstGeom>
        </p:spPr>
      </p:pic>
      <p:pic>
        <p:nvPicPr>
          <p:cNvPr id="14" name="Picture 13" descr="eq_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833804"/>
            <a:ext cx="471170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88720" y="4471416"/>
            <a:ext cx="6858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/>
              <a:t>Load torque follows a torque-speed characteristic</a:t>
            </a:r>
          </a:p>
        </p:txBody>
      </p:sp>
      <p:sp>
        <p:nvSpPr>
          <p:cNvPr id="16" name="Date Placeholder 5">
            <a:extLst>
              <a:ext uri="{FF2B5EF4-FFF2-40B4-BE49-F238E27FC236}">
                <a16:creationId xmlns:a16="http://schemas.microsoft.com/office/drawing/2014/main" id="{DD7E325F-5F9C-470B-9EAD-9B969E4E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3CB4F9CA-0497-48B8-9E07-B001A817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39802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Design: Numerical Methods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BFA2-EE69-374B-B248-C5EB3C1C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90472"/>
            <a:ext cx="10058400" cy="1234440"/>
          </a:xfrm>
        </p:spPr>
        <p:txBody>
          <a:bodyPr wrap="square"/>
          <a:lstStyle/>
          <a:p>
            <a:r>
              <a:rPr sz="1700" b="0"/>
              <a:t>Two explicit fixed-step integrators written directly, not called from a toolbox</a:t>
            </a:r>
          </a:p>
          <a:p>
            <a:r>
              <a:rPr sz="1700" b="0"/>
              <a:t>Both advance the same shared state-derivative function, so the model is identical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9</a:t>
            </a:fld>
            <a:endParaRPr lang="en-BD"/>
          </a:p>
        </p:txBody>
      </p:sp>
      <p:pic>
        <p:nvPicPr>
          <p:cNvPr id="11" name="Picture 10" descr="eq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88920"/>
            <a:ext cx="5446729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8720" y="5257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Euler: 1 derivative evaluation per step   |   RK4: 4 evaluations per step, ~30-50x larger h for the same accuracy</a:t>
            </a:r>
          </a:p>
          <a:p>
            <a:r>
              <a:rPr sz="1300"/>
              <a:t>Final RK4 stage evaluates its inputs at the left limit of the interval so step inputs do not break 4th-order accuracy</a:t>
            </a:r>
          </a:p>
        </p:txBody>
      </p:sp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5B6D8067-318E-4D41-B20A-E9D59B5D60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0C76FD0B-DC41-4DAC-89F2-FDFD6811A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2642175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Design: Simulation Model and GUI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CD3A-D4B0-7B41-958D-971CA047A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90472"/>
            <a:ext cx="5029200" cy="4544568"/>
          </a:xfrm>
        </p:spPr>
        <p:txBody>
          <a:bodyPr wrap="square"/>
          <a:lstStyle/>
          <a:p>
            <a:r>
              <a:rPr sz="1600" b="0"/>
              <a:t>Left panel: motor parameters and simulation inputs</a:t>
            </a:r>
          </a:p>
          <a:p>
            <a:r>
              <a:rPr sz="1600" b="0"/>
              <a:t>Voltage: step, ramp, pulse, imported CSV, user-defined</a:t>
            </a:r>
          </a:p>
          <a:p>
            <a:r>
              <a:rPr sz="1600" b="0"/>
              <a:t>Load: constant, linear, quadratic, constant-power, imported</a:t>
            </a:r>
          </a:p>
          <a:p>
            <a:r>
              <a:rPr sz="1600" b="0"/>
              <a:t>Tabs: Animation, Plots, Numerical Table</a:t>
            </a:r>
          </a:p>
          <a:p>
            <a:pPr lvl="1"/>
            <a:r>
              <a:rPr sz="1600" b="0"/>
              <a:t>Plot View selects Torque-Speed, Electrical, Mechanical or Numerical Analysis</a:t>
            </a:r>
          </a:p>
          <a:p>
            <a:r>
              <a:rPr sz="1600" b="0"/>
              <a:t>Controls: Run Simulation, Compare Methods, Time-Step Study, Import, Export, Reset</a:t>
            </a:r>
          </a:p>
          <a:p>
            <a:r>
              <a:rPr sz="1600" b="0"/>
              <a:t>Toggles: thermal model, Coulomb friction, current limit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10</a:t>
            </a:fld>
            <a:endParaRPr lang="en-BD"/>
          </a:p>
        </p:txBody>
      </p:sp>
      <p:pic>
        <p:nvPicPr>
          <p:cNvPr id="11" name="Picture 10" descr="1790325964892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331368" cy="4572000"/>
          </a:xfrm>
          <a:prstGeom prst="rect">
            <a:avLst/>
          </a:prstGeom>
        </p:spPr>
      </p:pic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E64CD771-C1D5-4A14-85BF-6757070D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6C2045E-027B-4C9F-AA14-D8D8997B7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1959859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Implementation: Test Case 1 - Electrical Response (Current-Limited)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CD3A-D4B0-7B41-958D-971CA047A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90472"/>
            <a:ext cx="10058400" cy="960120"/>
          </a:xfrm>
        </p:spPr>
        <p:txBody>
          <a:bodyPr wrap="square"/>
          <a:lstStyle/>
          <a:p>
            <a:r>
              <a:rPr sz="1600" b="0"/>
              <a:t>Motor A, 24 V step at t = 0, 0.05 N.m load at t = 1 s, 3 s run, h = 1e-4 s - current limiter ON (15 A)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11</a:t>
            </a:fld>
            <a:endParaRPr lang="en-BD"/>
          </a:p>
        </p:txBody>
      </p:sp>
      <p:pic>
        <p:nvPicPr>
          <p:cNvPr id="11" name="Picture 10" descr="M1_elect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194560"/>
            <a:ext cx="4486715" cy="3703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" y="6016752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15 A limiter clamps the current for ~150 ms; voltage rises 18 V to 24 V as back-EMF builds. (Limiter off: baseline peak is 18.32 A.)</a:t>
            </a:r>
          </a:p>
        </p:txBody>
      </p:sp>
      <p:sp>
        <p:nvSpPr>
          <p:cNvPr id="13" name="Date Placeholder 5">
            <a:extLst>
              <a:ext uri="{FF2B5EF4-FFF2-40B4-BE49-F238E27FC236}">
                <a16:creationId xmlns:a16="http://schemas.microsoft.com/office/drawing/2014/main" id="{94CB2371-0CF6-4E90-9DE0-416ECA9D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4C4BEC3-9883-4607-8D9E-7554DB848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1358462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4.1 Implementation: Test Case 1 - Mechanical Response (Current-Limited)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CD3A-D4B0-7B41-958D-971CA047A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90472"/>
            <a:ext cx="10058400" cy="960120"/>
          </a:xfrm>
        </p:spPr>
        <p:txBody>
          <a:bodyPr wrap="square"/>
          <a:lstStyle/>
          <a:p>
            <a:r>
              <a:rPr sz="1600" b="0"/>
              <a:t>Speed, shaft position and the torque balance for the same run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12</a:t>
            </a:fld>
            <a:endParaRPr lang="en-BD"/>
          </a:p>
        </p:txBody>
      </p:sp>
      <p:pic>
        <p:nvPicPr>
          <p:cNvPr id="11" name="Picture 10" descr="M1_mecha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194560"/>
            <a:ext cx="4486715" cy="3703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" y="6016752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Speed settles at 211.4 rad/s - same as with the limiter off, since it only reshapes the transient. Torque absorbs the load step at t = 1 s.</a:t>
            </a:r>
          </a:p>
        </p:txBody>
      </p:sp>
      <p:sp>
        <p:nvSpPr>
          <p:cNvPr id="13" name="Date Placeholder 5">
            <a:extLst>
              <a:ext uri="{FF2B5EF4-FFF2-40B4-BE49-F238E27FC236}">
                <a16:creationId xmlns:a16="http://schemas.microsoft.com/office/drawing/2014/main" id="{9DD7AB3B-77F1-4C1F-8415-A2100AC9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5FF3C1D-F9D9-49BF-B5BC-3AFB29EB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135846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4.2 Implementation: Torque-Speed Characteristic (Baseline, No Limiter)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CD3A-D4B0-7B41-958D-971CA047A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00200"/>
            <a:ext cx="4572000" cy="4206240"/>
          </a:xfrm>
        </p:spPr>
        <p:txBody>
          <a:bodyPr wrap="square"/>
          <a:lstStyle/>
          <a:p>
            <a:r>
              <a:rPr sz="1600" b="0"/>
              <a:t>Blue curve: the simulated transient trajectory, from standstill to steady state</a:t>
            </a:r>
            <a:endParaRPr lang="en-BD" dirty="0"/>
          </a:p>
          <a:p>
            <a:r>
              <a:rPr sz="1600" b="0"/>
              <a:t>Marker: the operating point - where the run settles</a:t>
            </a:r>
            <a:endParaRPr lang="en-BD" dirty="0"/>
          </a:p>
          <a:p>
            <a:r>
              <a:rPr sz="1600" b="0"/>
              <a:t>211.4 rad/s, 0.4727 N·m at that point</a:t>
            </a:r>
            <a:endParaRPr lang="en-BD" dirty="0"/>
          </a:p>
          <a:p>
            <a:r>
              <a:rPr sz="1600" b="0"/>
              <a:t>Equals Bω + T_L at that speed - the torque balance at steady state</a:t>
            </a:r>
            <a:endParaRPr lang="en-BD" dirty="0"/>
          </a:p>
          <a:p>
            <a:pPr lvl="1"/>
            <a:r>
              <a:rPr sz="1600" b="0"/>
              <a:t>Verified against the analytical steady state to within 0.01 rad/s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13</a:t>
            </a:fld>
            <a:endParaRPr lang="en-BD"/>
          </a:p>
        </p:txBody>
      </p:sp>
      <p:pic>
        <p:nvPicPr>
          <p:cNvPr id="11" name="Picture 10" descr="M1_torque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00200"/>
            <a:ext cx="5867400" cy="4480560"/>
          </a:xfrm>
          <a:prstGeom prst="rect">
            <a:avLst/>
          </a:prstGeom>
        </p:spPr>
      </p:pic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035DC09F-3C15-48A0-B778-134EE44E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BD716199-B964-40A0-A313-8726C64AF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1358462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4.3 Implementation: Test Case 2 - Ramp Voltage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CD3A-D4B0-7B41-958D-971CA047A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90472"/>
            <a:ext cx="10058400" cy="868680"/>
          </a:xfrm>
        </p:spPr>
        <p:txBody>
          <a:bodyPr wrap="square">
            <a:normAutofit/>
          </a:bodyPr>
          <a:lstStyle/>
          <a:p>
            <a:r>
              <a:rPr sz="1600"/>
              <a:t>Motor A, 18 V ramped over 0.5 s, 0.08 N.m load at t = 1.2 s, 3 s run, h = 2e-4 s</a:t>
            </a:r>
            <a:endParaRPr lang="en-BD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14</a:t>
            </a:fld>
            <a:endParaRPr lang="en-BD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920240"/>
            <a:ext cx="4431323" cy="3657600"/>
          </a:xfrm>
          <a:prstGeom prst="rect">
            <a:avLst/>
          </a:prstGeom>
        </p:spPr>
      </p:pic>
      <p:pic>
        <p:nvPicPr>
          <p:cNvPr id="12" name="Picture 11" descr="M2_mechan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920240"/>
            <a:ext cx="4431323" cy="3657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9888" y="5669280"/>
            <a:ext cx="45445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Electrical response</a:t>
            </a:r>
          </a:p>
          <a:p>
            <a:r>
              <a:rPr sz="1100" b="0"/>
              <a:t>Gradual voltage rise limits the peak current to 9.05 A, so the 15 A limiter never engages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5669280"/>
            <a:ext cx="45445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Mechanical response</a:t>
            </a:r>
          </a:p>
          <a:p>
            <a:r>
              <a:rPr sz="1100" b="0"/>
              <a:t>Speed settles at 151.0 rad/s; the 0.08 N.m load is applied at t = 1.2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6120000"/>
            <a:ext cx="9296231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i="1" dirty="0"/>
              <a:t>Pulse and imported-waveform cases (Test Cases 3 and 4) are in the full report, Section 4.3.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00F81C15-5FAD-48B4-9F59-211B88CDE7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08A14112-511F-47BF-B567-EE32B98E9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681849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4.4 Numerical Analysis: Method Comparison and Time-Step Study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CD3A-D4B0-7B41-958D-971CA047A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54480"/>
            <a:ext cx="4754880" cy="3931920"/>
          </a:xfrm>
        </p:spPr>
        <p:txBody>
          <a:bodyPr wrap="square"/>
          <a:lstStyle/>
          <a:p>
            <a:r>
              <a:rPr sz="1600" b="0"/>
              <a:t>Errors measured against a fine-step RK4 reference (h = 1e-5 s)</a:t>
            </a:r>
            <a:endParaRPr lang="en-BD" dirty="0"/>
          </a:p>
          <a:p>
            <a:r>
              <a:rPr sz="1600" b="0"/>
              <a:t>Euler error follows the expected first-order trend</a:t>
            </a:r>
            <a:endParaRPr lang="en-BD" dirty="0"/>
          </a:p>
          <a:p>
            <a:r>
              <a:rPr sz="1600" b="0"/>
              <a:t>RK4 shows the expected fourth-order convergence overall</a:t>
            </a:r>
            <a:endParaRPr lang="en-BD" dirty="0"/>
          </a:p>
          <a:p>
            <a:r>
              <a:rPr sz="1600" b="0"/>
              <a:t>At h = 1e-3 s: Euler 0.114 rad/s vs RK4 3.0e-5 rad/s</a:t>
            </a:r>
            <a:endParaRPr lang="en-BD" dirty="0"/>
          </a:p>
          <a:p>
            <a:r>
              <a:rPr sz="1600" b="0"/>
              <a:t>Deviations from ideal 16x scaling occur from reference-error limits and input discontinuities</a:t>
            </a:r>
            <a:endParaRPr lang="en-BD" dirty="0"/>
          </a:p>
          <a:p>
            <a:r>
              <a:rPr sz="1600" b="0"/>
              <a:t>Unstable step sizes are detected and excluded, not plotted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15</a:t>
            </a:fld>
            <a:endParaRPr lang="en-BD"/>
          </a:p>
        </p:txBody>
      </p:sp>
      <p:pic>
        <p:nvPicPr>
          <p:cNvPr id="11" name="Picture 10" descr="timestep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4969329" cy="3794760"/>
          </a:xfrm>
          <a:prstGeom prst="rect">
            <a:avLst/>
          </a:prstGeom>
        </p:spPr>
      </p:pic>
      <p:pic>
        <p:nvPicPr>
          <p:cNvPr id="12" name="Picture 11" descr="M1_eulerrk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892040"/>
            <a:ext cx="3434275" cy="1417320"/>
          </a:xfrm>
          <a:prstGeom prst="rect">
            <a:avLst/>
          </a:prstGeom>
        </p:spPr>
      </p:pic>
      <p:sp>
        <p:nvSpPr>
          <p:cNvPr id="13" name="Date Placeholder 5">
            <a:extLst>
              <a:ext uri="{FF2B5EF4-FFF2-40B4-BE49-F238E27FC236}">
                <a16:creationId xmlns:a16="http://schemas.microsoft.com/office/drawing/2014/main" id="{704D7013-59AF-42A8-A601-BFAF98DE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A5D252CC-B753-42F5-88DB-A69118944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1358462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Design Analysis and Evaluation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CD3A-D4B0-7B41-958D-971CA047A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b="0"/>
              <a:t>5.1  Investigations (PO(d))</a:t>
            </a:r>
          </a:p>
          <a:p>
            <a:r>
              <a:rPr b="0"/>
              <a:t>5.2  Limitations of Tools (PO(e))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16</a:t>
            </a:fld>
            <a:endParaRPr lang="en-BD"/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35108364-E27F-4042-99B9-592F8048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454012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00430A3F-6893-4F61-8A8B-C23B02FA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34963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4287483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C672-E565-34D9-BD41-B504F1B7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5.1 Investigations (PO(d))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FE627-4B30-BCAF-2060-4ABCF5611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90472"/>
            <a:ext cx="5852160" cy="4544568"/>
          </a:xfrm>
        </p:spPr>
        <p:txBody>
          <a:bodyPr wrap="square"/>
          <a:lstStyle/>
          <a:p>
            <a:r>
              <a:rPr sz="1500" b="1"/>
              <a:t>Design of experiment</a:t>
            </a:r>
          </a:p>
          <a:p>
            <a:pPr lvl="1"/>
            <a:r>
              <a:rPr sz="1500" b="0"/>
              <a:t>Euler and RK4 run at eight step sizes from 1e-4 to 2e-2 s</a:t>
            </a:r>
          </a:p>
          <a:p>
            <a:pPr lvl="1"/>
            <a:r>
              <a:rPr sz="1500" b="0"/>
              <a:t>Maximum speed error measured against a fine-step RK4 reference</a:t>
            </a:r>
          </a:p>
          <a:p>
            <a:r>
              <a:rPr sz="1500" b="1"/>
              <a:t>Results</a:t>
            </a:r>
          </a:p>
          <a:p>
            <a:pPr lvl="1"/>
            <a:r>
              <a:rPr sz="1500" b="0"/>
              <a:t>Euler: approximately first-order convergence</a:t>
            </a:r>
          </a:p>
          <a:p>
            <a:pPr lvl="1"/>
            <a:r>
              <a:rPr sz="1500" b="0"/>
              <a:t>RK4: fourth-order convergence as an overall trend</a:t>
            </a:r>
          </a:p>
          <a:p>
            <a:pPr lvl="1"/>
            <a:r>
              <a:rPr sz="1500" b="0"/>
              <a:t>Individual step-to-step error ratios deviate from the ideal 16x scaling</a:t>
            </a:r>
          </a:p>
          <a:p>
            <a:pPr lvl="1"/>
            <a:r>
              <a:rPr sz="1500" b="0"/>
              <a:t>Both methods stable across the tested range</a:t>
            </a:r>
          </a:p>
          <a:p>
            <a:r>
              <a:rPr sz="1500" b="1"/>
              <a:t>Finding during development</a:t>
            </a:r>
          </a:p>
          <a:p>
            <a:pPr lvl="1"/>
            <a:r>
              <a:rPr sz="1500" b="0"/>
              <a:t>RK4 silently dropped to first order on steps meeting an input discontinuity</a:t>
            </a:r>
          </a:p>
          <a:p>
            <a:pPr lvl="1"/>
            <a:r>
              <a:rPr sz="1500" b="0"/>
              <a:t>Corrected by evaluating the final stage at the left limit of the interval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17</a:t>
            </a:fld>
            <a:endParaRPr lang="en-BD"/>
          </a:p>
        </p:txBody>
      </p:sp>
      <p:pic>
        <p:nvPicPr>
          <p:cNvPr id="12" name="Picture 11" descr="timestep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920240"/>
            <a:ext cx="4610100" cy="3520440"/>
          </a:xfrm>
          <a:prstGeom prst="rect">
            <a:avLst/>
          </a:prstGeom>
        </p:spPr>
      </p:pic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9908F868-B360-4031-AEF6-C6736DD578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F2C0A77F-B7A7-406C-9370-AA9CECBD8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1284346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C672-E565-34D9-BD41-B504F1B7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5.2 Limitations of Tools (PO(e))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FE627-4B30-BCAF-2060-4ABCF5611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700" b="0" dirty="0"/>
              <a:t>Fixed-step solvers need the user to choose h</a:t>
            </a:r>
            <a:endParaRPr lang="en-GB" dirty="0"/>
          </a:p>
          <a:p>
            <a:pPr lvl="1"/>
            <a:r>
              <a:rPr sz="1700" b="0" dirty="0"/>
              <a:t>Motor A electrical time constant is ~13 </a:t>
            </a:r>
            <a:r>
              <a:rPr sz="1700" b="0" dirty="0" err="1"/>
              <a:t>ms</a:t>
            </a:r>
            <a:endParaRPr lang="en-GB" dirty="0"/>
          </a:p>
          <a:p>
            <a:pPr lvl="1"/>
            <a:r>
              <a:rPr sz="1700" b="0" dirty="0"/>
              <a:t>Euler diverges above h ~ 26 </a:t>
            </a:r>
            <a:r>
              <a:rPr sz="1700" b="0" dirty="0" err="1"/>
              <a:t>ms</a:t>
            </a:r>
            <a:r>
              <a:rPr sz="1700" b="0" dirty="0"/>
              <a:t>, RK4 above h ~ 36 </a:t>
            </a:r>
            <a:r>
              <a:rPr sz="1700" b="0" dirty="0" err="1"/>
              <a:t>ms</a:t>
            </a:r>
            <a:endParaRPr lang="en-GB" dirty="0"/>
          </a:p>
          <a:p>
            <a:pPr lvl="1"/>
            <a:r>
              <a:rPr sz="1700" b="0" dirty="0"/>
              <a:t>The Time-Step Study detects divergence and reports it instead of plotting it</a:t>
            </a:r>
            <a:endParaRPr lang="en-GB" dirty="0"/>
          </a:p>
          <a:p>
            <a:r>
              <a:rPr sz="1700" b="0" dirty="0"/>
              <a:t>ode45 reference is itself limited by its tolerances (set to 1e-10 here) and by rounding</a:t>
            </a:r>
            <a:endParaRPr lang="en-GB" dirty="0"/>
          </a:p>
          <a:p>
            <a:r>
              <a:rPr sz="1700" b="0" dirty="0"/>
              <a:t>Current limiter is an </a:t>
            </a:r>
            <a:r>
              <a:rPr sz="1700" b="0" dirty="0" err="1"/>
              <a:t>idealised</a:t>
            </a:r>
            <a:r>
              <a:rPr sz="1700" b="0" dirty="0"/>
              <a:t> instantaneous voltage clamp, not a real chopper or PWM stage</a:t>
            </a:r>
            <a:endParaRPr lang="en-GB" dirty="0"/>
          </a:p>
          <a:p>
            <a:r>
              <a:rPr sz="1700" b="0" dirty="0"/>
              <a:t>Thermal model is lumped first-order - no spatial temperature gradient in the windings</a:t>
            </a:r>
            <a:endParaRPr lang="en-GB" dirty="0"/>
          </a:p>
          <a:p>
            <a:r>
              <a:rPr sz="1700" b="0" dirty="0"/>
              <a:t>Animation speed depends on the host machine redraw rate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18</a:t>
            </a:fld>
            <a:endParaRPr lang="en-BD"/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C973A470-1FD9-456B-A9D1-3D926D93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21EC3B1-6E1B-4670-A7F9-41C45E8E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4216238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68394-81FC-9718-C3C6-AD14D0856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6.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A2677-3FFB-8A8B-1C49-4DD306231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700" b="0" dirty="0"/>
              <a:t>Regenerative operating mode - returning energy to the supply when overhauled by the load</a:t>
            </a:r>
            <a:endParaRPr lang="en-GB" dirty="0"/>
          </a:p>
          <a:p>
            <a:r>
              <a:rPr sz="1700" b="0" dirty="0"/>
              <a:t>Magnetic saturation of the torque and back-EMF constants at high current</a:t>
            </a:r>
            <a:endParaRPr lang="en-GB" dirty="0"/>
          </a:p>
          <a:p>
            <a:r>
              <a:rPr sz="1700" b="0" dirty="0"/>
              <a:t>Full closed-loop PWM current-limiting model in place of the </a:t>
            </a:r>
            <a:r>
              <a:rPr sz="1700" b="0" dirty="0" err="1"/>
              <a:t>idealised</a:t>
            </a:r>
            <a:r>
              <a:rPr sz="1700" b="0" dirty="0"/>
              <a:t> voltage clamp</a:t>
            </a:r>
            <a:endParaRPr lang="en-GB" dirty="0"/>
          </a:p>
          <a:p>
            <a:r>
              <a:rPr sz="1700" b="0" dirty="0"/>
              <a:t>Closed-loop speed and position control (PI / PID) built on the present plant model</a:t>
            </a:r>
            <a:endParaRPr lang="en-GB" dirty="0"/>
          </a:p>
          <a:p>
            <a:r>
              <a:rPr sz="1700" b="0" dirty="0"/>
              <a:t>Export the animation as a video file alongside the existing CSV data export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081B2-77D4-F78C-BC42-5C78C11F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19</a:t>
            </a:fld>
            <a:endParaRPr lang="en-BD" dirty="0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00D3ABD4-A1E8-4348-BC84-A245E86A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07473982-74E5-4609-991B-A4C08B7B3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3674043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F11D-A416-0F4E-9F78-0DF2456C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9824A-37CE-5047-8E24-58FA9D659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700" b="0" dirty="0"/>
              <a:t>S. C. </a:t>
            </a:r>
            <a:r>
              <a:rPr sz="1700" b="0" dirty="0" err="1"/>
              <a:t>Chapra</a:t>
            </a:r>
            <a:r>
              <a:rPr sz="1700" b="0" dirty="0"/>
              <a:t> and R. P. Canale, Numerical Methods for Engineers, McGraw-Hill.</a:t>
            </a:r>
            <a:endParaRPr lang="en-BD" dirty="0"/>
          </a:p>
          <a:p>
            <a:r>
              <a:rPr sz="1700" b="0" dirty="0"/>
              <a:t>S. J. Chapman, Electric Machinery Fundamentals, McGraw-Hill.</a:t>
            </a:r>
            <a:endParaRPr lang="en-BD" dirty="0"/>
          </a:p>
          <a:p>
            <a:r>
              <a:rPr sz="1700" b="0" dirty="0"/>
              <a:t>MathWorks, MATLAB Ordinary Differential Equation Documentation.</a:t>
            </a:r>
            <a:endParaRPr lang="en-BD" dirty="0"/>
          </a:p>
          <a:p>
            <a:r>
              <a:rPr sz="1700" b="0" dirty="0"/>
              <a:t>MathWorks, MATLAB App Designer Documentation.</a:t>
            </a:r>
            <a:endParaRPr lang="en-BD" dirty="0"/>
          </a:p>
          <a:p>
            <a:r>
              <a:rPr sz="1700" b="0" dirty="0"/>
              <a:t>EEE 212 Numerical Techniques Laboratory, MATLAB Project Handbook, Dept. of EEE, BUET.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3A405-BAC8-CE44-AF2C-14F06899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20</a:t>
            </a:fld>
            <a:endParaRPr lang="en-BD"/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978D04F9-7640-4A10-834C-D9D3A641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212 (2026) - Final Project Group C2-04</a:t>
            </a:r>
            <a:endParaRPr lang="en-BD" dirty="0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CCB4A8D9-49ED-4E14-8904-0221A122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DC Motor Dynamic Simulator</a:t>
            </a:r>
          </a:p>
        </p:txBody>
      </p:sp>
    </p:spTree>
    <p:extLst>
      <p:ext uri="{BB962C8B-B14F-4D97-AF65-F5344CB8AC3E}">
        <p14:creationId xmlns:p14="http://schemas.microsoft.com/office/powerpoint/2010/main" val="300555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286e53-5872-488d-963e-ab9b9bdeca2a">
      <Terms xmlns="http://schemas.microsoft.com/office/infopath/2007/PartnerControls"/>
    </lcf76f155ced4ddcb4097134ff3c332f>
    <TaxCatchAll xmlns="1d8b3f58-a2f4-4bdb-b11a-e7230386560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E8555BAB37345BFE5FFE54DB2B2A7" ma:contentTypeVersion="11" ma:contentTypeDescription="Create a new document." ma:contentTypeScope="" ma:versionID="0ae5841b424de55cd75d4bca742f6a5a">
  <xsd:schema xmlns:xsd="http://www.w3.org/2001/XMLSchema" xmlns:xs="http://www.w3.org/2001/XMLSchema" xmlns:p="http://schemas.microsoft.com/office/2006/metadata/properties" xmlns:ns2="9e286e53-5872-488d-963e-ab9b9bdeca2a" xmlns:ns3="1d8b3f58-a2f4-4bdb-b11a-e72303865606" targetNamespace="http://schemas.microsoft.com/office/2006/metadata/properties" ma:root="true" ma:fieldsID="b9131042e88684443c113f7f6fcac9ea" ns2:_="" ns3:_="">
    <xsd:import namespace="9e286e53-5872-488d-963e-ab9b9bdeca2a"/>
    <xsd:import namespace="1d8b3f58-a2f4-4bdb-b11a-e723038656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286e53-5872-488d-963e-ab9b9bdeca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6e39378-e5b3-4363-9849-d730c44b92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8b3f58-a2f4-4bdb-b11a-e7230386560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1753aa2-baab-40ef-81f5-aaf5825c83a9}" ma:internalName="TaxCatchAll" ma:showField="CatchAllData" ma:web="1d8b3f58-a2f4-4bdb-b11a-e723038656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2F419E-9C94-4759-9CCD-4264D3FDF6BA}">
  <ds:schemaRefs>
    <ds:schemaRef ds:uri="http://schemas.microsoft.com/office/2006/metadata/properties"/>
    <ds:schemaRef ds:uri="http://schemas.microsoft.com/office/infopath/2007/PartnerControls"/>
    <ds:schemaRef ds:uri="9e286e53-5872-488d-963e-ab9b9bdeca2a"/>
    <ds:schemaRef ds:uri="1d8b3f58-a2f4-4bdb-b11a-e72303865606"/>
  </ds:schemaRefs>
</ds:datastoreItem>
</file>

<file path=customXml/itemProps2.xml><?xml version="1.0" encoding="utf-8"?>
<ds:datastoreItem xmlns:ds="http://schemas.openxmlformats.org/officeDocument/2006/customXml" ds:itemID="{01CE1D68-D3B4-46A3-9369-9C089A4FD0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DBD088-55E6-48C3-8DD9-0B56515A59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286e53-5872-488d-963e-ab9b9bdeca2a"/>
    <ds:schemaRef ds:uri="1d8b3f58-a2f4-4bdb-b11a-e723038656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{05D23346-88B9-1E48-85E6-2D29E7791F05}tf10001067</Template>
  <TotalTime>172</TotalTime>
  <Words>1508</Words>
  <Application>Microsoft Office PowerPoint</Application>
  <PresentationFormat>Widescreen</PresentationFormat>
  <Paragraphs>188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Arial Narrow</vt:lpstr>
      <vt:lpstr>Calibri</vt:lpstr>
      <vt:lpstr>Century Gothic</vt:lpstr>
      <vt:lpstr>Garamond</vt:lpstr>
      <vt:lpstr>Savon</vt:lpstr>
      <vt:lpstr>DC Motor Dynamic Simulator</vt:lpstr>
      <vt:lpstr>Outline</vt:lpstr>
      <vt:lpstr>1. Summary / Abstract</vt:lpstr>
      <vt:lpstr>2. Introduction</vt:lpstr>
      <vt:lpstr>3.1 Design: Problem Formulation (PO(b))</vt:lpstr>
      <vt:lpstr>3.1 Design: Problem Formulation (PO(b))</vt:lpstr>
      <vt:lpstr>3.1 Design: Problem Formulation (PO(b))</vt:lpstr>
      <vt:lpstr>3.1 Design: Problem Formulation (PO(b))</vt:lpstr>
      <vt:lpstr>3.2 Design: Numerical Methods</vt:lpstr>
      <vt:lpstr>3.3 Design: Simulation Model and GUI</vt:lpstr>
      <vt:lpstr>4. Implementation: Test Case 1 - Electrical Response</vt:lpstr>
      <vt:lpstr>4.1 Implementation: Test Case 1 - Mechanical Response</vt:lpstr>
      <vt:lpstr>4.2 Implementation: Torque-Speed Characteristic</vt:lpstr>
      <vt:lpstr>4.3 Implementation: Test Case 2 - Ramp Voltage</vt:lpstr>
      <vt:lpstr>4.4 Numerical Analysis: Method Comparison and Time-Step Study</vt:lpstr>
      <vt:lpstr>5. Design Analysis and Evaluation</vt:lpstr>
      <vt:lpstr>5.1 Investigations (PO(d))</vt:lpstr>
      <vt:lpstr>5.2 Limitations of Tools (PO(e))</vt:lpstr>
      <vt:lpstr>6. Future Work</vt:lpstr>
      <vt:lpstr>7.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Sajid Muhaimin Choudhury</dc:creator>
  <cp:lastModifiedBy>2406177 - SHUVRO PAIN</cp:lastModifiedBy>
  <cp:revision>39</cp:revision>
  <cp:lastPrinted>2023-06-08T10:53:35Z</cp:lastPrinted>
  <dcterms:created xsi:type="dcterms:W3CDTF">2021-07-11T09:27:00Z</dcterms:created>
  <dcterms:modified xsi:type="dcterms:W3CDTF">2026-09-27T08:50:16Z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0x010100252E8555BAB37345BFE5FFE54DB2B2A7</vt:lpwstr>
  </property>
  <property fmtid="{D5CDD505-2E9C-101B-9397-08002B2CF9AE}" pid="3" name="MediaServiceImageTags">
    <vt:lpwstr/>
  </property>
</Properties>
</file>